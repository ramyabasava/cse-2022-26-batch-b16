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4"/>
  </p:notesMasterIdLst>
  <p:handoutMasterIdLst>
    <p:handoutMasterId r:id="rId15"/>
  </p:handoutMasterIdLst>
  <p:sldIdLst>
    <p:sldId id="267" r:id="rId3"/>
    <p:sldId id="257" r:id="rId4"/>
    <p:sldId id="278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15A1B4-C617-4F37-9F46-8BE5BE8E2CCF}">
          <p14:sldIdLst>
            <p14:sldId id="267"/>
            <p14:sldId id="257"/>
            <p14:sldId id="278"/>
            <p14:sldId id="258"/>
            <p14:sldId id="259"/>
            <p14:sldId id="260"/>
            <p14:sldId id="261"/>
            <p14:sldId id="263"/>
            <p14:sldId id="264"/>
          </p14:sldIdLst>
        </p14:section>
        <p14:section name="Untitled Section" id="{D1474CA8-D437-4047-A28C-B23795E361B6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6EABCF-160B-4F17-9604-F03BE3892B02}" v="2" dt="2025-12-10T18:13:26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howGuides="1">
      <p:cViewPr>
        <p:scale>
          <a:sx n="75" d="100"/>
          <a:sy n="75" d="100"/>
        </p:scale>
        <p:origin x="946" y="120"/>
      </p:cViewPr>
      <p:guideLst>
        <p:guide orient="horz" pos="2160"/>
        <p:guide pos="3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3288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930FDE-F08A-58DB-09AE-0ADAF71644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8B9B2-6EE7-1253-8479-0C57927C42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4389-6F4A-43EB-915D-745D92559A02}" type="datetime1">
              <a:rPr lang="en-US" smtClean="0"/>
              <a:t>12/10/2025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86B17B-A892-511C-93A9-9CF503A05C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38BE4-7C8D-DFB3-178D-BC455F9F32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82247-9C4E-4FF7-8B6A-06B7BCE3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41542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8EE01-FDF9-41C5-A3BD-D2AA5AA6FAF5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C78BE-84F6-4F5F-974A-47A573FE28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0DCA0-ACFE-EDBF-5A9D-A9E3979AF9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8DE2CAF-A776-B16B-C346-993E4C14D55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E9664A-751A-552C-AC1A-B920708A0F4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A5A6942-51DB-4581-AD31-9A2863F1BC44}" type="datetime1">
              <a:rPr lang="en-US" smtClean="0"/>
              <a:t>12/10/2025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7641B-8EBE-DC72-D298-47A0F301F8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17C9B28-91F8-55F1-7CFD-DBF325AEF3D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6F43F-8D43-E882-A279-0B4EB4575AE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2792CB7-977A-41E0-BFA5-246A59792A1F}" type="datetime1">
              <a:rPr lang="en-US" smtClean="0"/>
              <a:t>12/10/2025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0" y="232920"/>
            <a:ext cx="121917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18212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16480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9944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18212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16480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/>
          <p:nvPr userDrawn="1"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/>
          <p:cNvSpPr txBox="1"/>
          <p:nvPr userDrawn="1"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/>
          <p:cNvSpPr txBox="1"/>
          <p:nvPr userDrawn="1"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 userDrawn="1"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0" y="232920"/>
            <a:ext cx="121917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418212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816480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19944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418212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816480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/>
          <p:nvPr/>
        </p:nvSpPr>
        <p:spPr>
          <a:xfrm>
            <a:off x="777240" y="6634440"/>
            <a:ext cx="5781600" cy="2206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Date Placeholder 3"/>
          <p:cNvSpPr/>
          <p:nvPr/>
        </p:nvSpPr>
        <p:spPr>
          <a:xfrm>
            <a:off x="6559200" y="6634440"/>
            <a:ext cx="5194800" cy="220680"/>
          </a:xfrm>
          <a:prstGeom prst="rect">
            <a:avLst/>
          </a:prstGeom>
          <a:solidFill>
            <a:srgbClr val="008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Date Placeholder 3"/>
          <p:cNvSpPr/>
          <p:nvPr/>
        </p:nvSpPr>
        <p:spPr>
          <a:xfrm>
            <a:off x="11754360" y="6636960"/>
            <a:ext cx="437400" cy="220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Date Placeholder 3"/>
          <p:cNvSpPr/>
          <p:nvPr/>
        </p:nvSpPr>
        <p:spPr>
          <a:xfrm>
            <a:off x="0" y="0"/>
            <a:ext cx="12191760" cy="232560"/>
          </a:xfrm>
          <a:prstGeom prst="rect">
            <a:avLst/>
          </a:prstGeom>
          <a:solidFill>
            <a:srgbClr val="0066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Date Placeholder 3"/>
          <p:cNvSpPr/>
          <p:nvPr/>
        </p:nvSpPr>
        <p:spPr>
          <a:xfrm>
            <a:off x="0" y="6634440"/>
            <a:ext cx="776880" cy="22104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 panose="020F0502020204030204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 algn="just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Times New Roman" panose="02020603050405020304"/>
              </a:rPr>
              <a:t>Click to edit the outline text format</a:t>
            </a:r>
          </a:p>
          <a:p>
            <a:pPr marL="864235" lvl="1" indent="-323850" algn="just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Second Outline Level</a:t>
            </a:r>
          </a:p>
          <a:p>
            <a:pPr marL="1296035" lvl="2" indent="-288290" algn="just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Third Outline Level</a:t>
            </a:r>
          </a:p>
          <a:p>
            <a:pPr marL="1727835" lvl="3" indent="-215900" algn="just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Fourth Outline Level</a:t>
            </a:r>
          </a:p>
          <a:p>
            <a:pPr marL="2160270" lvl="4" indent="-215900" algn="just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Fifth Outline Level</a:t>
            </a:r>
          </a:p>
          <a:p>
            <a:pPr marL="2592070" lvl="5" indent="-215900" algn="just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Sixth Outline Level</a:t>
            </a:r>
          </a:p>
          <a:p>
            <a:pPr marL="3023870" lvl="6" indent="-215900" algn="just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b="0" strike="noStrike" spc="-1">
                <a:solidFill>
                  <a:srgbClr val="000000"/>
                </a:solidFill>
                <a:latin typeface="Times New Roman" panose="02020603050405020304"/>
              </a:rPr>
              <a:t>Edit Master text styles</a:t>
            </a:r>
          </a:p>
          <a:p>
            <a:pPr marL="685800" lvl="1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en-US" sz="2400" b="0" strike="noStrike" spc="-1">
                <a:solidFill>
                  <a:srgbClr val="000000"/>
                </a:solidFill>
                <a:latin typeface="Times New Roman" panose="02020603050405020304"/>
              </a:rPr>
              <a:t>Second level</a:t>
            </a:r>
          </a:p>
          <a:p>
            <a:pPr marL="1143000" lvl="2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Courier New" panose="02070309020205020404"/>
              <a:buChar char="o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Third level</a:t>
            </a:r>
          </a:p>
          <a:p>
            <a:pPr marL="1600200" lvl="3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 pitchFamily="2" charset="2"/>
              <a:buChar char="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Fourth level</a:t>
            </a:r>
          </a:p>
          <a:p>
            <a:pPr marL="2057400" lvl="4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Fifth level</a:t>
            </a:r>
          </a:p>
        </p:txBody>
      </p:sp>
      <p:sp>
        <p:nvSpPr>
          <p:cNvPr id="45" name="Date Placeholder 3"/>
          <p:cNvSpPr/>
          <p:nvPr/>
        </p:nvSpPr>
        <p:spPr>
          <a:xfrm>
            <a:off x="777240" y="6642720"/>
            <a:ext cx="5653800" cy="2149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cap="small" spc="-1" dirty="0">
                <a:solidFill>
                  <a:srgbClr val="FFFFFF"/>
                </a:solidFill>
                <a:latin typeface="Times New Roman" panose="02020603050405020304"/>
              </a:rPr>
              <a:t>Dept. of Computer Science and Engineering</a:t>
            </a:r>
            <a:endParaRPr lang="en-IN" sz="1600" b="0" strike="noStrike" spc="-1" dirty="0">
              <a:latin typeface="Arial" panose="020B0604020202020204"/>
            </a:endParaRPr>
          </a:p>
        </p:txBody>
      </p:sp>
      <p:sp>
        <p:nvSpPr>
          <p:cNvPr id="46" name="Date Placeholder 3"/>
          <p:cNvSpPr/>
          <p:nvPr/>
        </p:nvSpPr>
        <p:spPr>
          <a:xfrm>
            <a:off x="6431400" y="6642000"/>
            <a:ext cx="5322600" cy="215640"/>
          </a:xfrm>
          <a:prstGeom prst="rect">
            <a:avLst/>
          </a:prstGeom>
          <a:solidFill>
            <a:srgbClr val="008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cap="small" spc="-1">
                <a:solidFill>
                  <a:srgbClr val="FFFFFF"/>
                </a:solidFill>
                <a:latin typeface="Times New Roman" panose="02020603050405020304"/>
              </a:rPr>
              <a:t>Srinivasa Ramanujan Institute of Technology</a:t>
            </a:r>
            <a:endParaRPr lang="en-IN" sz="1600" b="0" strike="noStrike" spc="-1">
              <a:latin typeface="Arial" panose="020B0604020202020204"/>
            </a:endParaRPr>
          </a:p>
        </p:txBody>
      </p:sp>
      <p:sp>
        <p:nvSpPr>
          <p:cNvPr id="47" name="Date Placeholder 3"/>
          <p:cNvSpPr/>
          <p:nvPr/>
        </p:nvSpPr>
        <p:spPr>
          <a:xfrm>
            <a:off x="11623040" y="6642100"/>
            <a:ext cx="568960" cy="21590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287FBA57-AD8A-4D8D-8881-00EAA4F18DD5}" type="slidenum">
              <a:rPr lang="en-IN" sz="1600" b="1" strike="noStrike" spc="-1">
                <a:solidFill>
                  <a:srgbClr val="002060"/>
                </a:solidFill>
                <a:latin typeface="Times New Roman" panose="02020603050405020304"/>
              </a:rPr>
              <a:t>‹#›</a:t>
            </a:fld>
            <a:endParaRPr lang="en-IN" sz="1600" b="0" strike="noStrike" spc="-1">
              <a:latin typeface="Arial" panose="020B0604020202020204"/>
            </a:endParaRPr>
          </a:p>
        </p:txBody>
      </p:sp>
      <p:sp>
        <p:nvSpPr>
          <p:cNvPr id="48" name="Date Placeholder 3"/>
          <p:cNvSpPr/>
          <p:nvPr/>
        </p:nvSpPr>
        <p:spPr>
          <a:xfrm>
            <a:off x="0" y="0"/>
            <a:ext cx="12191760" cy="232560"/>
          </a:xfrm>
          <a:prstGeom prst="rect">
            <a:avLst/>
          </a:prstGeom>
          <a:solidFill>
            <a:srgbClr val="0066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i="1" strike="noStrike" spc="-1">
                <a:solidFill>
                  <a:srgbClr val="FFFFFF"/>
                </a:solidFill>
                <a:latin typeface="Times New Roman" panose="02020603050405020304"/>
              </a:rPr>
              <a:t>Title of the Project</a:t>
            </a:r>
            <a:endParaRPr lang="en-IN" sz="1500" b="0" strike="noStrike" spc="-1">
              <a:latin typeface="Arial" panose="020B0604020202020204"/>
            </a:endParaRPr>
          </a:p>
        </p:txBody>
      </p:sp>
      <p:pic>
        <p:nvPicPr>
          <p:cNvPr id="49" name="Picture 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506320" y="595620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50" name="Date Placeholder 3"/>
          <p:cNvSpPr/>
          <p:nvPr/>
        </p:nvSpPr>
        <p:spPr>
          <a:xfrm>
            <a:off x="0" y="6642735"/>
            <a:ext cx="932815" cy="21463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cap="small" spc="-1">
                <a:solidFill>
                  <a:srgbClr val="FFFFFF"/>
                </a:solidFill>
                <a:latin typeface="Times New Roman" panose="02020603050405020304"/>
              </a:rPr>
              <a:t>A - XX</a:t>
            </a:r>
            <a:endParaRPr lang="en-IN" sz="1600" b="0" strike="noStrike" spc="-1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dt="0"/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11"/>
          <p:cNvSpPr txBox="1"/>
          <p:nvPr/>
        </p:nvSpPr>
        <p:spPr>
          <a:xfrm>
            <a:off x="8432328" y="1783000"/>
            <a:ext cx="3073872" cy="5845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R. Sai Sowmya Sree</a:t>
            </a:r>
            <a:endParaRPr lang="en-US" sz="1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1800" b="0" dirty="0"/>
              <a:t>Roll No. 224G1A0592</a:t>
            </a:r>
          </a:p>
        </p:txBody>
      </p:sp>
      <p:sp>
        <p:nvSpPr>
          <p:cNvPr id="6" name="Subtitle 11"/>
          <p:cNvSpPr txBox="1"/>
          <p:nvPr/>
        </p:nvSpPr>
        <p:spPr>
          <a:xfrm>
            <a:off x="3759654" y="2475580"/>
            <a:ext cx="4672674" cy="8980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1400" b="0" i="1" dirty="0"/>
              <a:t>Under the guidance of</a:t>
            </a: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M. Ranjith Reddy ,qualification</a:t>
            </a: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Designation</a:t>
            </a:r>
            <a:endParaRPr lang="en-IN" sz="1400" b="0" dirty="0"/>
          </a:p>
        </p:txBody>
      </p:sp>
      <p:sp>
        <p:nvSpPr>
          <p:cNvPr id="7" name="Subtitle 11"/>
          <p:cNvSpPr txBox="1"/>
          <p:nvPr/>
        </p:nvSpPr>
        <p:spPr>
          <a:xfrm>
            <a:off x="1514475" y="5162533"/>
            <a:ext cx="9163049" cy="1427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5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4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     </a:t>
            </a:r>
          </a:p>
          <a:p>
            <a:pPr>
              <a:spcBef>
                <a:spcPts val="500"/>
              </a:spcBef>
            </a:pPr>
            <a:r>
              <a:rPr lang="en-US" sz="65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Srinivasa Ramanujan Institute of Technology</a:t>
            </a:r>
          </a:p>
          <a:p>
            <a:pPr>
              <a:spcBef>
                <a:spcPts val="300"/>
              </a:spcBef>
            </a:pPr>
            <a:r>
              <a:rPr lang="en-US" sz="3400" dirty="0">
                <a:effectLst/>
                <a:ea typeface="Times New Roman" panose="02020603050405020304" pitchFamily="18" charset="0"/>
              </a:rPr>
              <a:t>Autonomous</a:t>
            </a:r>
            <a:endParaRPr lang="en-US" sz="3400" b="0" dirty="0"/>
          </a:p>
          <a:p>
            <a:pPr>
              <a:spcBef>
                <a:spcPts val="300"/>
              </a:spcBef>
            </a:pPr>
            <a:r>
              <a:rPr lang="en-US" sz="2300" dirty="0" err="1"/>
              <a:t>Rotarypuram</a:t>
            </a:r>
            <a:r>
              <a:rPr lang="en-US" sz="2300" dirty="0"/>
              <a:t> Village, B K </a:t>
            </a:r>
            <a:r>
              <a:rPr lang="en-US" sz="2300" dirty="0" err="1"/>
              <a:t>Samudram</a:t>
            </a:r>
            <a:r>
              <a:rPr lang="en-US" sz="2300" dirty="0"/>
              <a:t> Mandal, </a:t>
            </a:r>
            <a:r>
              <a:rPr lang="en-US" sz="2300" dirty="0" err="1"/>
              <a:t>Ananthapuramu</a:t>
            </a:r>
            <a:r>
              <a:rPr lang="en-US" sz="2300" dirty="0"/>
              <a:t> – 515701.</a:t>
            </a:r>
          </a:p>
          <a:p>
            <a:pPr>
              <a:spcAft>
                <a:spcPts val="100"/>
              </a:spcAft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2025-2026</a:t>
            </a:r>
            <a:endParaRPr lang="en-US" sz="2500" b="0" dirty="0"/>
          </a:p>
          <a:p>
            <a:endParaRPr lang="en-IN" b="0" dirty="0"/>
          </a:p>
        </p:txBody>
      </p:sp>
      <p:sp>
        <p:nvSpPr>
          <p:cNvPr id="12" name="Subtitle 11"/>
          <p:cNvSpPr txBox="1"/>
          <p:nvPr/>
        </p:nvSpPr>
        <p:spPr>
          <a:xfrm>
            <a:off x="4038600" y="1783000"/>
            <a:ext cx="4073320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 Ayesha</a:t>
            </a:r>
            <a:endParaRPr lang="en-US" sz="2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1500" b="0" dirty="0"/>
              <a:t>Roll No. 224G1A0508</a:t>
            </a:r>
          </a:p>
        </p:txBody>
      </p:sp>
      <p:sp>
        <p:nvSpPr>
          <p:cNvPr id="13" name="Subtitle 11"/>
          <p:cNvSpPr txBox="1"/>
          <p:nvPr/>
        </p:nvSpPr>
        <p:spPr>
          <a:xfrm>
            <a:off x="8617598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endParaRPr lang="en-US" sz="2800" b="0" dirty="0"/>
          </a:p>
        </p:txBody>
      </p:sp>
      <p:sp>
        <p:nvSpPr>
          <p:cNvPr id="14" name="Subtitle 11"/>
          <p:cNvSpPr txBox="1"/>
          <p:nvPr/>
        </p:nvSpPr>
        <p:spPr>
          <a:xfrm>
            <a:off x="1191460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Basava Ramya</a:t>
            </a:r>
          </a:p>
          <a:p>
            <a:pPr>
              <a:spcBef>
                <a:spcPts val="300"/>
              </a:spcBef>
            </a:pPr>
            <a:r>
              <a:rPr lang="en-US" sz="1500" b="0" dirty="0"/>
              <a:t>Roll No. 224G1A0581</a:t>
            </a:r>
          </a:p>
        </p:txBody>
      </p:sp>
      <p:sp>
        <p:nvSpPr>
          <p:cNvPr id="17" name="Rectangle: Rounded Corners 16"/>
          <p:cNvSpPr/>
          <p:nvPr/>
        </p:nvSpPr>
        <p:spPr>
          <a:xfrm>
            <a:off x="755009" y="335271"/>
            <a:ext cx="10528183" cy="857864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 Novel Image Segmentation Technique for Improving Plant Disease Classification with Deep Learning Models</a:t>
            </a:r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14840" y="1261696"/>
            <a:ext cx="676230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I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2301" y="3477046"/>
            <a:ext cx="1527379" cy="16854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40" y="22860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Contents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206580" y="106680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Title Justification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Abstract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Problem statement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Objectives of Project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Literature survey for objectives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Proposed Work -(Methods to be followed for proposed system) 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References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GitHub Link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Queries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40" y="22860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dirty="0">
                <a:solidFill>
                  <a:srgbClr val="000000"/>
                </a:solidFill>
                <a:latin typeface="Times New Roman" panose="02020603050405020304"/>
                <a:sym typeface="+mn-ea"/>
              </a:rPr>
              <a:t>Title Justification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US" sz="2400" dirty="0"/>
              <a:t>The title </a:t>
            </a:r>
            <a:r>
              <a:rPr lang="en-US" sz="2400" i="1" dirty="0"/>
              <a:t>“A Novel Image Segmentation Technique for Improving Plant Disease Classification with Deep Learning Models”</a:t>
            </a:r>
            <a:r>
              <a:rPr lang="en-US" sz="2400" dirty="0"/>
              <a:t> is justified because the project focuses on: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Developing </a:t>
            </a:r>
            <a:r>
              <a:rPr lang="en-US" sz="2400" b="1" dirty="0"/>
              <a:t>advanced segmentation methods</a:t>
            </a:r>
            <a:r>
              <a:rPr lang="en-US" sz="2400" dirty="0"/>
              <a:t> to isolate diseased leaf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Improving </a:t>
            </a:r>
            <a:r>
              <a:rPr lang="en-US" sz="2400" b="1" dirty="0"/>
              <a:t>accuracy of plant disease detection</a:t>
            </a:r>
            <a:r>
              <a:rPr lang="en-US" sz="2400" dirty="0"/>
              <a:t> by preprocessing images through segmentation.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Using </a:t>
            </a:r>
            <a:r>
              <a:rPr lang="en-US" sz="2400" b="1" dirty="0"/>
              <a:t>deep learning architectures (</a:t>
            </a:r>
            <a:r>
              <a:rPr lang="en-US" sz="2400" b="1" dirty="0" err="1"/>
              <a:t>UNet</a:t>
            </a:r>
            <a:r>
              <a:rPr lang="en-US" sz="2400" b="1" dirty="0"/>
              <a:t>++, DeepLabV3, Swin Transformer)</a:t>
            </a:r>
            <a:r>
              <a:rPr lang="en-US" sz="2400" dirty="0"/>
              <a:t> that introduce novelty in technique and comparative evaluation.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Providing a </a:t>
            </a:r>
            <a:r>
              <a:rPr lang="en-US" sz="2400" b="1" dirty="0"/>
              <a:t>deployable Flask web application</a:t>
            </a:r>
            <a:r>
              <a:rPr lang="en-US" sz="2400" dirty="0"/>
              <a:t>, making the system practically useful.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aligns with the research goal of enhancing agricultural disease diagnostics through modern AI techniques.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800" b="0" strike="noStrike" spc="-1">
                <a:solidFill>
                  <a:srgbClr val="000000"/>
                </a:solidFill>
                <a:latin typeface="Times New Roman" panose="02020603050405020304"/>
              </a:rPr>
              <a:t>Abstract</a:t>
            </a:r>
            <a:endParaRPr lang="en-US" sz="2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400" dirty="0"/>
              <a:t>This project develops a deep learning–based solution for automated segmentation of leaf regions to support plant disease identification. Using the </a:t>
            </a:r>
            <a:r>
              <a:rPr lang="en-US" sz="2400" b="1" dirty="0"/>
              <a:t>Leaf Disease Segmentation Dataset</a:t>
            </a:r>
            <a:r>
              <a:rPr lang="en-US" sz="2400" dirty="0"/>
              <a:t> from Kaggle, three models </a:t>
            </a:r>
            <a:r>
              <a:rPr lang="en-US" sz="2400" dirty="0" err="1"/>
              <a:t>UNet</a:t>
            </a:r>
            <a:r>
              <a:rPr lang="en-US" sz="2400" dirty="0"/>
              <a:t>++, DeepLabV3 (both using ResNet34 encoders), and a custom Swin Transformer model are implemented to generate binary masks that isolate infected leaf areas. The dataset undergoes preprocessing using </a:t>
            </a:r>
            <a:r>
              <a:rPr lang="en-US" sz="2400" dirty="0" err="1"/>
              <a:t>Albumentations</a:t>
            </a:r>
            <a:r>
              <a:rPr lang="en-US" sz="2400" dirty="0"/>
              <a:t>, including resizing, augmentation, and normalization.</a:t>
            </a: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400" dirty="0"/>
              <a:t>The models are trained for 10 epochs using Adam optimizer, with Dice Loss and BCE With </a:t>
            </a:r>
            <a:r>
              <a:rPr lang="en-US" sz="2400" dirty="0" err="1"/>
              <a:t>LogitsLoss</a:t>
            </a:r>
            <a:r>
              <a:rPr lang="en-US" sz="2400" dirty="0"/>
              <a:t> as appropriate. Performance is evaluated using </a:t>
            </a:r>
            <a:r>
              <a:rPr lang="en-US" sz="2400" b="1" dirty="0"/>
              <a:t>Dice Score and </a:t>
            </a:r>
            <a:r>
              <a:rPr lang="en-US" sz="2400" b="1" dirty="0" err="1"/>
              <a:t>IoU</a:t>
            </a:r>
            <a:r>
              <a:rPr lang="en-US" sz="2400" dirty="0"/>
              <a:t>, where </a:t>
            </a:r>
            <a:r>
              <a:rPr lang="en-US" sz="2400" b="1" dirty="0" err="1"/>
              <a:t>UNet</a:t>
            </a:r>
            <a:r>
              <a:rPr lang="en-US" sz="2400" b="1" dirty="0"/>
              <a:t>++ achieves the highest accuracy</a:t>
            </a:r>
            <a:r>
              <a:rPr lang="en-US" sz="2400" dirty="0"/>
              <a:t> (Dice: 0.8401, </a:t>
            </a:r>
            <a:r>
              <a:rPr lang="en-US" sz="2400" dirty="0" err="1"/>
              <a:t>IoU</a:t>
            </a:r>
            <a:r>
              <a:rPr lang="en-US" sz="2400" dirty="0"/>
              <a:t>: 0.7423). The best-performing model is deployed in a </a:t>
            </a:r>
            <a:r>
              <a:rPr lang="en-US" sz="2400" b="1" dirty="0"/>
              <a:t>Flask web application</a:t>
            </a:r>
            <a:r>
              <a:rPr lang="en-US" sz="2400" dirty="0"/>
              <a:t> with user authentication and image upload features, supported by a MySQL database. The project demonstrates the effectiveness of deep learning for precise plant disease segmentation and real-world usability through deployment.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Problem Statement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459520" cy="507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dirty="0"/>
              <a:t>Identifying diseased leaf regions manually is </a:t>
            </a:r>
            <a:r>
              <a:rPr lang="en-US" sz="2800" b="1" dirty="0"/>
              <a:t>time-consuming, error-prone, and subjective</a:t>
            </a:r>
            <a:r>
              <a:rPr lang="en-US" sz="2800" dirty="0"/>
              <a:t>.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dirty="0"/>
              <a:t>Variations in lighting, leaf shapes, and disease patterns make traditional image processing methods ineffective.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dirty="0"/>
              <a:t>Accurate segmentation is required to improve disease classification performance.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dirty="0"/>
              <a:t>There is a need for an </a:t>
            </a:r>
            <a:r>
              <a:rPr lang="en-US" sz="2800" b="1" dirty="0"/>
              <a:t>automated, reliable, scalable solution</a:t>
            </a:r>
            <a:r>
              <a:rPr lang="en-US" sz="2800" dirty="0"/>
              <a:t> that can precisely isolate leaf regions for further diagnosis.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Objectives of Project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99440" y="1133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Research Objective :</a:t>
            </a:r>
          </a:p>
          <a:p>
            <a:r>
              <a:rPr lang="en-US" sz="2800" dirty="0"/>
              <a:t>To analyze the effectiveness of deep learning–based image segmentation techniques in improving plant disease classification accuracy for agricultural applications.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Technical Objective</a:t>
            </a:r>
          </a:p>
          <a:p>
            <a:r>
              <a:rPr lang="en-US" sz="2800" dirty="0"/>
              <a:t>To develop and compare three segmentation models (</a:t>
            </a:r>
            <a:r>
              <a:rPr lang="en-US" sz="2800" dirty="0" err="1"/>
              <a:t>UNet</a:t>
            </a:r>
            <a:r>
              <a:rPr lang="en-US" sz="2800" dirty="0"/>
              <a:t>++, DeepLabV3, and Swin Transformer) and deploy the best-performing model in a Flask web application for real-time leaf disease segmentation.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                                                                                                             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                                                 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sz="2800" b="0" strike="noStrike" spc="-1">
                <a:solidFill>
                  <a:srgbClr val="000000"/>
                </a:solidFill>
                <a:latin typeface="Times New Roman" panose="02020603050405020304"/>
              </a:rPr>
              <a:t>Literature survey for objectives</a:t>
            </a:r>
            <a:endParaRPr lang="en-US" sz="2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dirty="0"/>
              <a:t>Recent studies highlight the importance of </a:t>
            </a:r>
            <a:r>
              <a:rPr lang="en-US" sz="2800" b="1" dirty="0"/>
              <a:t>image segmentation</a:t>
            </a:r>
            <a:r>
              <a:rPr lang="en-US" sz="2800" dirty="0"/>
              <a:t> to enhance plant disease detection accuracy.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dirty="0" err="1"/>
              <a:t>UNet</a:t>
            </a:r>
            <a:r>
              <a:rPr lang="en-US" sz="2800" dirty="0"/>
              <a:t>-based models are widely used due to their </a:t>
            </a:r>
            <a:r>
              <a:rPr lang="en-US" sz="2800" b="1" dirty="0"/>
              <a:t>skip connections and strong feature extraction</a:t>
            </a:r>
            <a:r>
              <a:rPr lang="en-US" sz="2800" dirty="0"/>
              <a:t> capabilities.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dirty="0"/>
              <a:t>Transformer models, such as </a:t>
            </a:r>
            <a:r>
              <a:rPr lang="en-US" sz="2800" b="1" dirty="0"/>
              <a:t>Swin Transformer</a:t>
            </a:r>
            <a:r>
              <a:rPr lang="en-US" sz="2800" dirty="0"/>
              <a:t>, offer global attention mechanisms but require optimization for segmentation tasks.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dirty="0"/>
              <a:t>Previous works lack </a:t>
            </a:r>
            <a:r>
              <a:rPr lang="en-US" sz="2800" b="1" dirty="0"/>
              <a:t>comparative evaluation across multiple architectures</a:t>
            </a:r>
            <a:r>
              <a:rPr lang="en-US" sz="2800" dirty="0"/>
              <a:t>, which this project provides.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dirty="0"/>
              <a:t>Existing literature supports </a:t>
            </a:r>
            <a:r>
              <a:rPr lang="en-US" sz="2800" b="1" dirty="0"/>
              <a:t>deep learning adoption in agriculture</a:t>
            </a:r>
            <a:r>
              <a:rPr lang="en-US" sz="2800" dirty="0"/>
              <a:t>, but deployment-focused research remains limited.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                                                                           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/>
          </p:nvPr>
        </p:nvSpPr>
        <p:spPr>
          <a:xfrm>
            <a:off x="199440" y="1025280"/>
            <a:ext cx="11288520" cy="513432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miter/>
          </a:ln>
        </p:spPr>
        <p:txBody>
          <a:bodyPr anchor="t">
            <a:normAutofit fontScale="92500" lnSpcReduction="10000"/>
          </a:bodyPr>
          <a:lstStyle/>
          <a:p>
            <a:r>
              <a:rPr lang="en-IN" sz="2800" dirty="0"/>
              <a:t>The proposed system automates leaf disease segmentation using deep learning models. It consists of: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Dataset Preprocessing:</a:t>
            </a:r>
            <a:br>
              <a:rPr lang="en-IN" sz="2800" dirty="0"/>
            </a:br>
            <a:r>
              <a:rPr lang="en-IN" sz="2800" dirty="0"/>
              <a:t>Resize images, normalize, convert masks to binary, and apply light augmentation.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Model Development:</a:t>
            </a:r>
            <a:br>
              <a:rPr lang="en-IN" sz="2800" dirty="0"/>
            </a:br>
            <a:r>
              <a:rPr lang="en-IN" sz="2800" dirty="0"/>
              <a:t>Implement three models — </a:t>
            </a:r>
            <a:r>
              <a:rPr lang="en-IN" sz="2800" dirty="0" err="1"/>
              <a:t>UNet</a:t>
            </a:r>
            <a:r>
              <a:rPr lang="en-IN" sz="2800" dirty="0"/>
              <a:t>++, DeepLabV3, and Swin</a:t>
            </a:r>
            <a:r>
              <a:rPr lang="en-IN" sz="2800" b="1" dirty="0"/>
              <a:t> </a:t>
            </a:r>
            <a:r>
              <a:rPr lang="en-IN" sz="2800" dirty="0"/>
              <a:t>Transformer to segment leaf regions.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Training &amp; Evaluation:</a:t>
            </a:r>
            <a:br>
              <a:rPr lang="en-IN" sz="2800" dirty="0"/>
            </a:br>
            <a:r>
              <a:rPr lang="en-IN" sz="2800" dirty="0"/>
              <a:t>Train models using Adam optimizer and Dice/BCE loss; evaluate using Dice Score and </a:t>
            </a:r>
            <a:r>
              <a:rPr lang="en-IN" sz="2800" dirty="0" err="1"/>
              <a:t>IoU</a:t>
            </a:r>
            <a:r>
              <a:rPr lang="en-IN" sz="2800" dirty="0"/>
              <a:t> metrics to identify the most accurate model.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Deployment:</a:t>
            </a:r>
            <a:br>
              <a:rPr lang="en-IN" sz="2800" dirty="0"/>
            </a:br>
            <a:r>
              <a:rPr lang="en-IN" sz="2800" dirty="0"/>
              <a:t>Integrate the best model (</a:t>
            </a:r>
            <a:r>
              <a:rPr lang="en-IN" sz="2800" dirty="0" err="1"/>
              <a:t>UNet</a:t>
            </a:r>
            <a:r>
              <a:rPr lang="en-IN" sz="2800" dirty="0"/>
              <a:t>++) into a Flask web application with user login, image upload, and real-time segmentation output.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Proposed System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IN" sz="4400" b="0" strike="noStrike" spc="-1">
                <a:solidFill>
                  <a:srgbClr val="FFFFFF"/>
                </a:solidFill>
                <a:latin typeface="Times New Roman" panose="02020603050405020304"/>
              </a:rPr>
              <a:t> Reference</a:t>
            </a: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s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577850" indent="-577850"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[1]. F</a:t>
            </a:r>
            <a:r>
              <a:rPr lang="en-IN" sz="2800" dirty="0"/>
              <a:t>. Alam, “Leaf Disease Segmentation Dataset,” Kaggle Repository, 2021.</a:t>
            </a:r>
          </a:p>
          <a:p>
            <a:pPr marL="577850" indent="-577850"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IN" sz="2800" spc="-1" dirty="0">
                <a:solidFill>
                  <a:srgbClr val="000000"/>
                </a:solidFill>
                <a:latin typeface="Times New Roman" panose="02020603050405020304"/>
              </a:rPr>
              <a:t>[2]. Olaf </a:t>
            </a:r>
            <a:r>
              <a:rPr lang="en-IN" sz="2800" dirty="0" err="1"/>
              <a:t>Ronneberger</a:t>
            </a:r>
            <a:r>
              <a:rPr lang="en-IN" sz="2800" dirty="0"/>
              <a:t> et al., “U-Net: Convolutional Networks for Biomedical Image Segmentation,” MICCAI, 2015.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  <a:p>
            <a:pPr marL="577850" indent="-577850"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[3]. </a:t>
            </a:r>
            <a:r>
              <a:rPr lang="en-IN" sz="2800" dirty="0"/>
              <a:t>Liang-Chieh Chen et al., “</a:t>
            </a:r>
            <a:r>
              <a:rPr lang="en-IN" sz="2800" dirty="0" err="1"/>
              <a:t>DeepLab</a:t>
            </a:r>
            <a:r>
              <a:rPr lang="en-IN" sz="2800" dirty="0"/>
              <a:t>: Semantic Image Segmentation with Deep Convolutional Nets,” TPAMI, 2018.</a:t>
            </a:r>
          </a:p>
          <a:p>
            <a:pPr marL="577850" indent="-577850"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IN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[4]. </a:t>
            </a:r>
            <a:r>
              <a:rPr lang="en-IN" sz="2800" dirty="0"/>
              <a:t>Liu et al., “Swin Transformer: Hierarchical Vision Transformer Using Shifted Windows,” ICCV 2021.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IN" sz="4400" b="0" strike="noStrike" spc="-1">
                <a:solidFill>
                  <a:srgbClr val="FFFFFF"/>
                </a:solidFill>
                <a:latin typeface="Times New Roman" panose="02020603050405020304"/>
              </a:rPr>
              <a:t>Git Hub Dashboards of each student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15" name="Picture 11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1" y="1234492"/>
            <a:ext cx="10591800" cy="4175708"/>
          </a:xfrm>
          <a:prstGeom prst="rect">
            <a:avLst/>
          </a:prstGeom>
          <a:ln w="0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609600" y="5867401"/>
            <a:ext cx="943737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link of the </a:t>
            </a:r>
            <a:r>
              <a:rPr lang="en-US" dirty="0" err="1"/>
              <a:t>Github</a:t>
            </a:r>
            <a:r>
              <a:rPr lang="en-US" dirty="0"/>
              <a:t>: https://github.com/ramyabasava/CSE-2022-26-Batch-B16.git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2632680" y="2375640"/>
            <a:ext cx="6848640" cy="165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600" b="0" i="1" strike="noStrike" spc="-1">
                <a:solidFill>
                  <a:srgbClr val="FF6600"/>
                </a:solidFill>
                <a:latin typeface="Times New Roman" panose="02020603050405020304"/>
                <a:ea typeface="Calibri" panose="020F0502020204030204"/>
              </a:rPr>
              <a:t>Any Queries?</a:t>
            </a:r>
            <a:endParaRPr lang="en-IN" sz="96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809</Words>
  <Application>Microsoft Office PowerPoint</Application>
  <PresentationFormat>Widescreen</PresentationFormat>
  <Paragraphs>76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Office Theme</vt:lpstr>
      <vt:lpstr>PowerPoint Presentation</vt:lpstr>
      <vt:lpstr>Contents</vt:lpstr>
      <vt:lpstr>Title Justification</vt:lpstr>
      <vt:lpstr>Abstract</vt:lpstr>
      <vt:lpstr>Problem Statement</vt:lpstr>
      <vt:lpstr>Objectives of Project</vt:lpstr>
      <vt:lpstr>Literature survey for objectives</vt:lpstr>
      <vt:lpstr>Proposed System</vt:lpstr>
      <vt:lpstr> References</vt:lpstr>
      <vt:lpstr>Git Hub Dashboards of each student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venkatesh k</dc:creator>
  <cp:lastModifiedBy>Ramya basava</cp:lastModifiedBy>
  <cp:revision>140</cp:revision>
  <dcterms:created xsi:type="dcterms:W3CDTF">2019-06-11T05:35:00Z</dcterms:created>
  <dcterms:modified xsi:type="dcterms:W3CDTF">2025-12-10T18:18:06Z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9BB83942808244A299B002FD6DDC753B</vt:lpwstr>
  </property>
  <property fmtid="{D5CDD505-2E9C-101B-9397-08002B2CF9AE}" pid="3" name="KSOProductBuildVer">
    <vt:lpwstr>1033-12.2.0.18639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